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78" r:id="rId7"/>
    <p:sldId id="279" r:id="rId8"/>
    <p:sldId id="281" r:id="rId9"/>
    <p:sldId id="282" r:id="rId10"/>
    <p:sldId id="283" r:id="rId11"/>
    <p:sldId id="284" r:id="rId12"/>
    <p:sldId id="286" r:id="rId13"/>
    <p:sldId id="272" r:id="rId14"/>
    <p:sldId id="287" r:id="rId15"/>
    <p:sldId id="264" r:id="rId16"/>
    <p:sldId id="267" r:id="rId17"/>
    <p:sldId id="265" r:id="rId18"/>
    <p:sldId id="266" r:id="rId19"/>
    <p:sldId id="268" r:id="rId20"/>
    <p:sldId id="269" r:id="rId21"/>
    <p:sldId id="288" r:id="rId22"/>
    <p:sldId id="270" r:id="rId23"/>
    <p:sldId id="271" r:id="rId24"/>
    <p:sldId id="273" r:id="rId25"/>
    <p:sldId id="289" r:id="rId26"/>
    <p:sldId id="276" r:id="rId27"/>
  </p:sldIdLst>
  <p:sldSz cx="12192000" cy="6858000"/>
  <p:notesSz cx="6858000" cy="9144000"/>
  <p:embeddedFontLst>
    <p:embeddedFont>
      <p:font typeface="Lato" panose="020F0502020204030203" pitchFamily="34" charset="0"/>
      <p:regular r:id="rId29"/>
      <p:bold r:id="rId30"/>
      <p:italic r:id="rId31"/>
      <p:boldItalic r:id="rId32"/>
    </p:embeddedFont>
    <p:embeddedFont>
      <p:font typeface="Poppins" panose="00000500000000000000" pitchFamily="2" charset="0"/>
      <p:regular r:id="rId33"/>
      <p:bold r:id="rId34"/>
      <p:italic r:id="rId35"/>
      <p:boldItalic r:id="rId36"/>
    </p:embeddedFont>
    <p:embeddedFont>
      <p:font typeface="Poppins SemiBold" panose="000007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9F58A6-F1B5-489F-9174-BC32A913158F}">
  <a:tblStyle styleId="{9E9F58A6-F1B5-489F-9174-BC32A913158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3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A0F3AA62-A2BE-6B0E-7B4F-7870D4D5C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>
            <a:extLst>
              <a:ext uri="{FF2B5EF4-FFF2-40B4-BE49-F238E27FC236}">
                <a16:creationId xmlns:a16="http://schemas.microsoft.com/office/drawing/2014/main" id="{FA4E026C-46C3-F3D4-3CEC-AD5C81B46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0B7E6803-8277-19E2-0D26-20B150F91A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20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E7B561CA-B192-DF1A-B424-AE223C56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>
            <a:extLst>
              <a:ext uri="{FF2B5EF4-FFF2-40B4-BE49-F238E27FC236}">
                <a16:creationId xmlns:a16="http://schemas.microsoft.com/office/drawing/2014/main" id="{DF8E4B2B-6463-F399-CB56-244BB6BCF5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4CAE85CB-1BCB-4730-E2BD-BE112487E2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958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56FB20A0-FDD3-F78E-B0E5-A27E2A02E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>
            <a:extLst>
              <a:ext uri="{FF2B5EF4-FFF2-40B4-BE49-F238E27FC236}">
                <a16:creationId xmlns:a16="http://schemas.microsoft.com/office/drawing/2014/main" id="{AD6DF258-BE8A-5AB1-B007-47C532B049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CB3CEA01-DD60-B741-44AC-1EC053C4A8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77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4FBAF82C-9CEF-291E-6E16-0671D27FC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>
            <a:extLst>
              <a:ext uri="{FF2B5EF4-FFF2-40B4-BE49-F238E27FC236}">
                <a16:creationId xmlns:a16="http://schemas.microsoft.com/office/drawing/2014/main" id="{4C103771-A7DD-B988-5089-467DBA66C3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2108A0E2-83CF-4B5D-52E9-3B7A1E3883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8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76BF4FA-8A8C-615A-849D-97DC3D164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>
            <a:extLst>
              <a:ext uri="{FF2B5EF4-FFF2-40B4-BE49-F238E27FC236}">
                <a16:creationId xmlns:a16="http://schemas.microsoft.com/office/drawing/2014/main" id="{0398ED44-FE52-AC68-5E73-5AC8CE7393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019DF678-49C5-C9A5-E654-CB7216EE24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153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701AE471-3D80-D7C8-9981-B6EFACFF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>
            <a:extLst>
              <a:ext uri="{FF2B5EF4-FFF2-40B4-BE49-F238E27FC236}">
                <a16:creationId xmlns:a16="http://schemas.microsoft.com/office/drawing/2014/main" id="{B8C1BE6E-CE86-26A4-B5D4-E3CCD754E7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4102A736-B177-8143-EABD-AB4D46BDF9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835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831324A-35F2-1281-3B41-5101FAD75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>
            <a:extLst>
              <a:ext uri="{FF2B5EF4-FFF2-40B4-BE49-F238E27FC236}">
                <a16:creationId xmlns:a16="http://schemas.microsoft.com/office/drawing/2014/main" id="{E2A64BB4-B548-ECD0-201E-A7D03C2A10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325632E5-8E4F-88B9-59EF-D11690DCC9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54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>
          <a:extLst>
            <a:ext uri="{FF2B5EF4-FFF2-40B4-BE49-F238E27FC236}">
              <a16:creationId xmlns:a16="http://schemas.microsoft.com/office/drawing/2014/main" id="{58F35C98-9E19-E7C2-8EA0-254800091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:notes">
            <a:extLst>
              <a:ext uri="{FF2B5EF4-FFF2-40B4-BE49-F238E27FC236}">
                <a16:creationId xmlns:a16="http://schemas.microsoft.com/office/drawing/2014/main" id="{98C1D845-E0D5-8531-A007-208D0BBC62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7:notes">
            <a:extLst>
              <a:ext uri="{FF2B5EF4-FFF2-40B4-BE49-F238E27FC236}">
                <a16:creationId xmlns:a16="http://schemas.microsoft.com/office/drawing/2014/main" id="{127B99DA-C58F-EF33-0DB8-DCD3386B09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998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>
          <a:extLst>
            <a:ext uri="{FF2B5EF4-FFF2-40B4-BE49-F238E27FC236}">
              <a16:creationId xmlns:a16="http://schemas.microsoft.com/office/drawing/2014/main" id="{BE5390CB-F440-A640-BEAA-0B1117160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>
            <a:extLst>
              <a:ext uri="{FF2B5EF4-FFF2-40B4-BE49-F238E27FC236}">
                <a16:creationId xmlns:a16="http://schemas.microsoft.com/office/drawing/2014/main" id="{3E3007D7-5733-72EB-2B98-0C89DC9001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4:notes">
            <a:extLst>
              <a:ext uri="{FF2B5EF4-FFF2-40B4-BE49-F238E27FC236}">
                <a16:creationId xmlns:a16="http://schemas.microsoft.com/office/drawing/2014/main" id="{0E0E0A6D-8106-3E3B-D958-7D5A3B49DA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494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>
          <a:extLst>
            <a:ext uri="{FF2B5EF4-FFF2-40B4-BE49-F238E27FC236}">
              <a16:creationId xmlns:a16="http://schemas.microsoft.com/office/drawing/2014/main" id="{F49FB935-43FD-5880-0213-72F49739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:notes">
            <a:extLst>
              <a:ext uri="{FF2B5EF4-FFF2-40B4-BE49-F238E27FC236}">
                <a16:creationId xmlns:a16="http://schemas.microsoft.com/office/drawing/2014/main" id="{C2DC8D5F-72EC-834E-95CB-44F13E2C53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7:notes">
            <a:extLst>
              <a:ext uri="{FF2B5EF4-FFF2-40B4-BE49-F238E27FC236}">
                <a16:creationId xmlns:a16="http://schemas.microsoft.com/office/drawing/2014/main" id="{56C345DD-5DF0-C647-BB4A-BBD6454C24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574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15315" y="969822"/>
            <a:ext cx="1096137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Customer Churn Prediction and Retention Analysis in Telecom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443287" y="2675074"/>
            <a:ext cx="53054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D4FF"/>
                </a:solidFill>
                <a:latin typeface="Lato"/>
                <a:ea typeface="Lato"/>
                <a:cs typeface="Lato"/>
                <a:sym typeface="Lato"/>
              </a:rPr>
              <a:t>End-to-End Machine Learning Classification Project</a:t>
            </a:r>
            <a:endParaRPr dirty="0"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22398" y="4577198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9132A3-9CE9-90D6-7323-4B57C943F0A6}"/>
              </a:ext>
            </a:extLst>
          </p:cNvPr>
          <p:cNvSpPr txBox="1"/>
          <p:nvPr/>
        </p:nvSpPr>
        <p:spPr>
          <a:xfrm>
            <a:off x="3443287" y="4499944"/>
            <a:ext cx="71887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Mohamed Ahmed Mohamed </a:t>
            </a:r>
            <a:r>
              <a:rPr lang="en-US" sz="18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Elshahat</a:t>
            </a:r>
            <a:endParaRPr lang="en-US" sz="1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Amir Ibrahem Abdulraouf</a:t>
            </a:r>
          </a:p>
          <a:p>
            <a:r>
              <a:rPr lang="en-US" sz="1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Salma </a:t>
            </a:r>
            <a:r>
              <a:rPr lang="en-US" sz="18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Elbadry</a:t>
            </a:r>
            <a:r>
              <a:rPr lang="en-US" sz="1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Ibrahim</a:t>
            </a:r>
          </a:p>
          <a:p>
            <a:r>
              <a:rPr lang="en-US" sz="1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Sara Abdelmoniem Omar</a:t>
            </a:r>
          </a:p>
          <a:p>
            <a:r>
              <a:rPr lang="en-US" sz="1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Mohamed Ahmed El-</a:t>
            </a:r>
            <a:r>
              <a:rPr lang="en-US" sz="18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Quasaby</a:t>
            </a:r>
            <a:endParaRPr lang="en-US" sz="1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Mohamed Salah Othman Mohamed</a:t>
            </a:r>
          </a:p>
          <a:p>
            <a:endParaRPr lang="en-US" sz="1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1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Google Shape;89;p13" descr="image.png">
            <a:extLst>
              <a:ext uri="{FF2B5EF4-FFF2-40B4-BE49-F238E27FC236}">
                <a16:creationId xmlns:a16="http://schemas.microsoft.com/office/drawing/2014/main" id="{A09D8B1C-C23E-123A-8D2D-D601D1BCBA3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22402" y="4850144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89;p13" descr="image.png">
            <a:extLst>
              <a:ext uri="{FF2B5EF4-FFF2-40B4-BE49-F238E27FC236}">
                <a16:creationId xmlns:a16="http://schemas.microsoft.com/office/drawing/2014/main" id="{631FB4E2-AC1B-BBA2-C566-B0E6104FAB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12676" y="511676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89;p13" descr="image.png">
            <a:extLst>
              <a:ext uri="{FF2B5EF4-FFF2-40B4-BE49-F238E27FC236}">
                <a16:creationId xmlns:a16="http://schemas.microsoft.com/office/drawing/2014/main" id="{CA8C1817-81CD-1DBF-C02F-C4BD5E88812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12673" y="538370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89;p13" descr="image.png">
            <a:extLst>
              <a:ext uri="{FF2B5EF4-FFF2-40B4-BE49-F238E27FC236}">
                <a16:creationId xmlns:a16="http://schemas.microsoft.com/office/drawing/2014/main" id="{4961F8A3-6776-E742-15C6-63BE115EC81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10643" y="566789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89;p13" descr="image.png">
            <a:extLst>
              <a:ext uri="{FF2B5EF4-FFF2-40B4-BE49-F238E27FC236}">
                <a16:creationId xmlns:a16="http://schemas.microsoft.com/office/drawing/2014/main" id="{927F9306-4EE0-E836-861C-5A813FE5873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10140" y="5946546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71E4CFC-BE39-6110-D357-9F3C0093C8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EF91460-0E77-FEDF-984B-9D6B603962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98C55D-D101-DFA1-BDCB-6728B4B24888}"/>
              </a:ext>
            </a:extLst>
          </p:cNvPr>
          <p:cNvSpPr txBox="1"/>
          <p:nvPr/>
        </p:nvSpPr>
        <p:spPr>
          <a:xfrm>
            <a:off x="4009414" y="3555791"/>
            <a:ext cx="4173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Supervised by: Eng. Ahmed Salem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9241F6-3AB3-9A31-B5F1-C998AF904628}"/>
              </a:ext>
            </a:extLst>
          </p:cNvPr>
          <p:cNvSpPr txBox="1"/>
          <p:nvPr/>
        </p:nvSpPr>
        <p:spPr>
          <a:xfrm>
            <a:off x="4525790" y="3121855"/>
            <a:ext cx="3140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ONL4_AIS4_G2 (Team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4500" y="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859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853603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Business Problem</a:t>
            </a:r>
            <a:endParaRPr dirty="0"/>
          </a:p>
        </p:txBody>
      </p:sp>
      <p:sp>
        <p:nvSpPr>
          <p:cNvPr id="97" name="Google Shape;97;p14"/>
          <p:cNvSpPr/>
          <p:nvPr/>
        </p:nvSpPr>
        <p:spPr>
          <a:xfrm>
            <a:off x="571500" y="853603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81750" y="2800376"/>
            <a:ext cx="5238750" cy="21811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52500" y="2644481"/>
            <a:ext cx="51435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Customer churn is a major challenge for telecom companies.</a:t>
            </a:r>
            <a:endParaRPr b="1"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952499" y="3013977"/>
            <a:ext cx="51434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Losing customers reduces long-term revenue and increases acquisition costs.</a:t>
            </a:r>
            <a:endParaRPr b="1"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3728404"/>
            <a:ext cx="51434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Retaining existing customers is cheaper than acquiring new customers.</a:t>
            </a:r>
            <a:endParaRPr b="1"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952499" y="4387474"/>
            <a:ext cx="514349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goal of this project is to predict which customers are likely to churn.</a:t>
            </a:r>
            <a:endParaRPr b="1" dirty="0"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886" y="269476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158" y="442362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158" y="378020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158" y="307717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5DDC156-BFCD-0D52-222D-D571D1215E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FD18DF-BD19-C387-3512-A3FF34F416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762000" y="853597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Dataset Overview</a:t>
            </a:r>
            <a:endParaRPr dirty="0"/>
          </a:p>
        </p:txBody>
      </p:sp>
      <p:sp>
        <p:nvSpPr>
          <p:cNvPr id="112" name="Google Shape;112;p15"/>
          <p:cNvSpPr/>
          <p:nvPr/>
        </p:nvSpPr>
        <p:spPr>
          <a:xfrm>
            <a:off x="571500" y="853597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2194091"/>
            <a:ext cx="11049000" cy="1249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Utilizing the standard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IBM Telco Customer Churn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dataset to model behavior and demographics.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7043 customer records &amp; 21 features</a:t>
            </a:r>
            <a:r>
              <a:rPr lang="en-US" sz="15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n-US" dirty="0"/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Target variable: Binary Target Churn (Yes/No)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graphicFrame>
        <p:nvGraphicFramePr>
          <p:cNvPr id="114" name="Google Shape;114;p15"/>
          <p:cNvGraphicFramePr/>
          <p:nvPr>
            <p:extLst>
              <p:ext uri="{D42A27DB-BD31-4B8C-83A1-F6EECF244321}">
                <p14:modId xmlns:p14="http://schemas.microsoft.com/office/powerpoint/2010/main" val="3081213313"/>
              </p:ext>
            </p:extLst>
          </p:nvPr>
        </p:nvGraphicFramePr>
        <p:xfrm>
          <a:off x="571500" y="3454634"/>
          <a:ext cx="11049000" cy="2800375"/>
        </p:xfrm>
        <a:graphic>
          <a:graphicData uri="http://schemas.openxmlformats.org/drawingml/2006/table">
            <a:tbl>
              <a:tblPr firstRow="1" bandRow="1">
                <a:noFill/>
                <a:tableStyleId>{9E9F58A6-F1B5-489F-9174-BC32A913158F}</a:tableStyleId>
              </a:tblPr>
              <a:tblGrid>
                <a:gridCol w="19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E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Description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E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Key Features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Demographics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Individual customer traits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Gender, Senior Citizen, Partner, Dependents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Services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Subscribed product details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Phone, Internet (DSL/Fiber), Tech Support, Streaming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Billing information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Contractual info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Tenure, Contract, Payment Method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Account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Financial info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Charges, Monthly Charges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5" name="Google Shape;115;p15"/>
          <p:cNvSpPr/>
          <p:nvPr/>
        </p:nvSpPr>
        <p:spPr>
          <a:xfrm>
            <a:off x="571500" y="4010025"/>
            <a:ext cx="19119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2483494" y="4010025"/>
            <a:ext cx="32673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750867" y="4010025"/>
            <a:ext cx="5869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571500" y="4572000"/>
            <a:ext cx="19119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2483494" y="4572000"/>
            <a:ext cx="32673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5750867" y="4572000"/>
            <a:ext cx="5869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71500" y="5133975"/>
            <a:ext cx="19119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2483494" y="5133975"/>
            <a:ext cx="32673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750867" y="5133975"/>
            <a:ext cx="5869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571500" y="5695950"/>
            <a:ext cx="19119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2483494" y="5695950"/>
            <a:ext cx="32673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5750867" y="5695950"/>
            <a:ext cx="5869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77E46-4B8A-518F-5228-CF771CFFE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26A0E4-AEDB-BEF7-8EFB-32B70FBC4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CC29B3-015C-3E8F-8AD1-9C2E98DE6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9DDE68-9E3B-5B4E-66C0-FAE50AB4E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F47FB84F-31D6-4A48-1348-3DFE56231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98" y="2740414"/>
            <a:ext cx="3333750" cy="447675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E9DE8F37-2005-6978-9918-B134201D59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974482" y="2866316"/>
            <a:ext cx="152400" cy="19050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FC7F179F-F3C3-A5A0-ECFD-F8DD8053D1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5116" y="2737730"/>
            <a:ext cx="3333750" cy="447675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EBA8AF9D-2B77-4B83-C15E-7A0F6BB7A3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7734" y="2737729"/>
            <a:ext cx="3333750" cy="447675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78C602C6-D9AE-1A4C-43E8-FDE3C8EAEA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2868" y="3498205"/>
            <a:ext cx="3333750" cy="447675"/>
          </a:xfrm>
          <a:prstGeom prst="rect">
            <a:avLst/>
          </a:prstGeom>
        </p:spPr>
      </p:pic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EDB3C6A1-8817-C8A1-5854-5150D56E85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15116" y="3534180"/>
            <a:ext cx="3333750" cy="447675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E6CBCC69-4C55-2711-EA3C-819F24764E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2498" y="3534179"/>
            <a:ext cx="3333750" cy="447675"/>
          </a:xfrm>
          <a:prstGeom prst="rect">
            <a:avLst/>
          </a:prstGeom>
        </p:spPr>
      </p:pic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B2C73714-0C75-C5E5-5858-55A1868A088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5591" y="4327944"/>
            <a:ext cx="3333750" cy="447675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7D00E8F7-C4D2-62C6-750D-7CBE220D285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15116" y="4327944"/>
            <a:ext cx="3333750" cy="447675"/>
          </a:xfrm>
          <a:prstGeom prst="rect">
            <a:avLst/>
          </a:prstGeom>
        </p:spPr>
      </p:pic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0113EB9F-77ED-1EE7-D478-AEFCB98DEB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7637100" y="2866316"/>
            <a:ext cx="152400" cy="190500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C2DB3AF7-7330-2390-EA59-5A071131E1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959771" y="3662766"/>
            <a:ext cx="152400" cy="190500"/>
          </a:xfrm>
          <a:prstGeom prst="rect">
            <a:avLst/>
          </a:prstGeom>
        </p:spPr>
      </p:pic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C1AC412F-F5A2-C1A3-73E8-2945A14738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974482" y="4459216"/>
            <a:ext cx="152400" cy="190500"/>
          </a:xfrm>
          <a:prstGeom prst="rect">
            <a:avLst/>
          </a:prstGeom>
        </p:spPr>
      </p:pic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7232D64F-C35E-7FB2-C3E0-BC7B7CC567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3173" y="4059649"/>
            <a:ext cx="152400" cy="190500"/>
          </a:xfrm>
          <a:prstGeom prst="rect">
            <a:avLst/>
          </a:prstGeom>
        </p:spPr>
      </p:pic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56C6D772-CEFB-4BEF-1EFB-E851F68400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3543" y="3246554"/>
            <a:ext cx="152400" cy="190500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3186AD2F-C20D-E408-A3FA-78025335F8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651811" y="3635395"/>
            <a:ext cx="152400" cy="190500"/>
          </a:xfrm>
          <a:prstGeom prst="rect">
            <a:avLst/>
          </a:prstGeom>
        </p:spPr>
      </p:pic>
      <p:sp>
        <p:nvSpPr>
          <p:cNvPr id="32" name="Google Shape;111;p15">
            <a:extLst>
              <a:ext uri="{FF2B5EF4-FFF2-40B4-BE49-F238E27FC236}">
                <a16:creationId xmlns:a16="http://schemas.microsoft.com/office/drawing/2014/main" id="{2429A239-41C3-2B71-F536-10E8D1624BF3}"/>
              </a:ext>
            </a:extLst>
          </p:cNvPr>
          <p:cNvSpPr txBox="1"/>
          <p:nvPr/>
        </p:nvSpPr>
        <p:spPr>
          <a:xfrm>
            <a:off x="761391" y="869312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Workflow</a:t>
            </a:r>
            <a:endParaRPr dirty="0"/>
          </a:p>
        </p:txBody>
      </p:sp>
      <p:sp>
        <p:nvSpPr>
          <p:cNvPr id="33" name="Google Shape;112;p15">
            <a:extLst>
              <a:ext uri="{FF2B5EF4-FFF2-40B4-BE49-F238E27FC236}">
                <a16:creationId xmlns:a16="http://schemas.microsoft.com/office/drawing/2014/main" id="{FD480664-DC91-5040-6556-EC01CCFFC23B}"/>
              </a:ext>
            </a:extLst>
          </p:cNvPr>
          <p:cNvSpPr/>
          <p:nvPr/>
        </p:nvSpPr>
        <p:spPr>
          <a:xfrm>
            <a:off x="570891" y="869312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781300"/>
            <a:ext cx="5238750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762000" y="853608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Cleaning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71500" y="853608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6762750" y="3162300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D4FF"/>
                </a:solidFill>
                <a:latin typeface="Poppins"/>
                <a:ea typeface="Poppins"/>
                <a:cs typeface="Poppins"/>
                <a:sym typeface="Poppins"/>
              </a:rPr>
              <a:t>Data Quality Alert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762750" y="3629025"/>
            <a:ext cx="44767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11 missing values were identified in TotalCharges for customers with zero tenure. These were imputed with 0 to maintain dataset integrity.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52500" y="3008374"/>
            <a:ext cx="4857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Checked missing values.</a:t>
            </a:r>
            <a:endParaRPr dirty="0"/>
          </a:p>
        </p:txBody>
      </p:sp>
      <p:sp>
        <p:nvSpPr>
          <p:cNvPr id="163" name="Google Shape;163;p17"/>
          <p:cNvSpPr txBox="1"/>
          <p:nvPr/>
        </p:nvSpPr>
        <p:spPr>
          <a:xfrm>
            <a:off x="952500" y="3386137"/>
            <a:ext cx="4857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Detected null values in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TotalCharges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64" name="Google Shape;164;p17"/>
          <p:cNvSpPr txBox="1"/>
          <p:nvPr/>
        </p:nvSpPr>
        <p:spPr>
          <a:xfrm>
            <a:off x="952500" y="4149507"/>
            <a:ext cx="4857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Verified no duplicate records across 7,043 rows.</a:t>
            </a:r>
            <a:endParaRPr lang="en-US" dirty="0"/>
          </a:p>
        </p:txBody>
      </p:sp>
      <p:sp>
        <p:nvSpPr>
          <p:cNvPr id="165" name="Google Shape;165;p17"/>
          <p:cNvSpPr txBox="1"/>
          <p:nvPr/>
        </p:nvSpPr>
        <p:spPr>
          <a:xfrm>
            <a:off x="952500" y="3767822"/>
            <a:ext cx="4857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Fixed incorrect data types.</a:t>
            </a:r>
            <a:endParaRPr dirty="0"/>
          </a:p>
        </p:txBody>
      </p:sp>
      <p:pic>
        <p:nvPicPr>
          <p:cNvPr id="166" name="Google Shape;16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241" y="304344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593" y="344673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382084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420467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67B51E-ED70-B385-6514-3D0ECA066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2F74E7-D726-5E6C-C011-E65F0CB0A7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27DCD600-9862-28B8-1BEC-6C9980B0F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>
            <a:extLst>
              <a:ext uri="{FF2B5EF4-FFF2-40B4-BE49-F238E27FC236}">
                <a16:creationId xmlns:a16="http://schemas.microsoft.com/office/drawing/2014/main" id="{08C1A348-08CB-266E-0720-9FAE71582FB1}"/>
              </a:ext>
            </a:extLst>
          </p:cNvPr>
          <p:cNvSpPr txBox="1"/>
          <p:nvPr/>
        </p:nvSpPr>
        <p:spPr>
          <a:xfrm>
            <a:off x="762000" y="853600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EDA — Customer Churn Distribution</a:t>
            </a:r>
            <a:endParaRPr dirty="0"/>
          </a:p>
        </p:txBody>
      </p: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D45D33BC-F113-A37B-83DD-143C92C572D4}"/>
              </a:ext>
            </a:extLst>
          </p:cNvPr>
          <p:cNvSpPr/>
          <p:nvPr/>
        </p:nvSpPr>
        <p:spPr>
          <a:xfrm>
            <a:off x="571500" y="853600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236082-51F4-64A7-5AB2-7883905CF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534A84-4A50-82C6-A8F2-CA1AC2838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D32250-3307-E32B-470D-B0C858692D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3589" y="1679279"/>
            <a:ext cx="6464821" cy="432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70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654492B7-F295-2961-17BD-82D6BB6F4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>
            <a:extLst>
              <a:ext uri="{FF2B5EF4-FFF2-40B4-BE49-F238E27FC236}">
                <a16:creationId xmlns:a16="http://schemas.microsoft.com/office/drawing/2014/main" id="{EBCDD9AF-B42B-99F5-9D03-D5014EE0DD92}"/>
              </a:ext>
            </a:extLst>
          </p:cNvPr>
          <p:cNvSpPr txBox="1"/>
          <p:nvPr/>
        </p:nvSpPr>
        <p:spPr>
          <a:xfrm>
            <a:off x="762000" y="853600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EDA — Contract Type VS Churn</a:t>
            </a:r>
            <a:endParaRPr dirty="0"/>
          </a:p>
        </p:txBody>
      </p: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DC696054-B1D6-BABD-5F2D-034B903B272F}"/>
              </a:ext>
            </a:extLst>
          </p:cNvPr>
          <p:cNvSpPr/>
          <p:nvPr/>
        </p:nvSpPr>
        <p:spPr>
          <a:xfrm>
            <a:off x="571500" y="853600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D3BEBD-9A28-6FDA-6DCA-0AF44CD8A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0AFB1F-79F6-8FA9-A29E-7FF89C335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301B0A-8E6D-1B6F-2E49-14B75E274D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63589" y="1679279"/>
            <a:ext cx="6464821" cy="432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063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FE3E007E-BE07-218F-A929-26966DC4B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>
            <a:extLst>
              <a:ext uri="{FF2B5EF4-FFF2-40B4-BE49-F238E27FC236}">
                <a16:creationId xmlns:a16="http://schemas.microsoft.com/office/drawing/2014/main" id="{063D5AC7-6DF6-4D90-681F-8A378A69D226}"/>
              </a:ext>
            </a:extLst>
          </p:cNvPr>
          <p:cNvSpPr txBox="1"/>
          <p:nvPr/>
        </p:nvSpPr>
        <p:spPr>
          <a:xfrm>
            <a:off x="762000" y="853600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EDA — Tenure &amp; Customer Segments VS Churn</a:t>
            </a:r>
            <a:endParaRPr dirty="0"/>
          </a:p>
        </p:txBody>
      </p: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FC60709B-8CA4-4ABB-C360-303B0761D84F}"/>
              </a:ext>
            </a:extLst>
          </p:cNvPr>
          <p:cNvSpPr/>
          <p:nvPr/>
        </p:nvSpPr>
        <p:spPr>
          <a:xfrm>
            <a:off x="571500" y="853600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1346D1-22A6-C9DD-E481-FB959F773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A46DC6-2EB3-68ED-CA82-B49C21135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A31364-46B6-0C9D-17AE-34C2E6B55E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2498" y="1737597"/>
            <a:ext cx="5567919" cy="3816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5AA2C4-CE0A-CE64-7205-50CDDBBE78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62712" y="1783485"/>
            <a:ext cx="5567919" cy="372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573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8E6F7B66-4286-8E69-5D19-30B209AE9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>
            <a:extLst>
              <a:ext uri="{FF2B5EF4-FFF2-40B4-BE49-F238E27FC236}">
                <a16:creationId xmlns:a16="http://schemas.microsoft.com/office/drawing/2014/main" id="{2EA9E8BF-8D1B-9C9F-BD55-C7B81C1A1D5A}"/>
              </a:ext>
            </a:extLst>
          </p:cNvPr>
          <p:cNvSpPr txBox="1"/>
          <p:nvPr/>
        </p:nvSpPr>
        <p:spPr>
          <a:xfrm>
            <a:off x="762000" y="853600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EDA — Fiber Optic VS Churn</a:t>
            </a:r>
            <a:endParaRPr dirty="0"/>
          </a:p>
        </p:txBody>
      </p: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4E1BBC1E-BF85-17F5-7855-AFC069EAC0C1}"/>
              </a:ext>
            </a:extLst>
          </p:cNvPr>
          <p:cNvSpPr/>
          <p:nvPr/>
        </p:nvSpPr>
        <p:spPr>
          <a:xfrm>
            <a:off x="571500" y="853600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F16CFC-7148-8034-EE54-D21922B31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EEEDA0-73FB-B2ED-78D0-E13DE3180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63F27B-BA8D-E828-11AC-0172133A78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941313" y="1731278"/>
            <a:ext cx="6309373" cy="422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06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3FC2F3CF-D8BB-ABEF-6464-1B77FA5E9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>
            <a:extLst>
              <a:ext uri="{FF2B5EF4-FFF2-40B4-BE49-F238E27FC236}">
                <a16:creationId xmlns:a16="http://schemas.microsoft.com/office/drawing/2014/main" id="{DD8D5A05-4B02-1206-D703-384659CDB7A9}"/>
              </a:ext>
            </a:extLst>
          </p:cNvPr>
          <p:cNvSpPr txBox="1"/>
          <p:nvPr/>
        </p:nvSpPr>
        <p:spPr>
          <a:xfrm>
            <a:off x="762000" y="853600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EDA — Tech Support VS Churn</a:t>
            </a:r>
            <a:endParaRPr dirty="0"/>
          </a:p>
        </p:txBody>
      </p: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CD20994A-109C-333C-119C-967FAA10D558}"/>
              </a:ext>
            </a:extLst>
          </p:cNvPr>
          <p:cNvSpPr/>
          <p:nvPr/>
        </p:nvSpPr>
        <p:spPr>
          <a:xfrm>
            <a:off x="571500" y="853600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1DC21A-1AA5-69CA-3C24-9C417269F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712385-DC68-D002-9EB9-3384C28B5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023BBE-FCB4-4DD3-F4E4-725448BECB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47896" y="1731278"/>
            <a:ext cx="6096207" cy="422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444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BCCFC208-1BED-F361-8391-7E166D5F0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>
            <a:extLst>
              <a:ext uri="{FF2B5EF4-FFF2-40B4-BE49-F238E27FC236}">
                <a16:creationId xmlns:a16="http://schemas.microsoft.com/office/drawing/2014/main" id="{DE7C90CD-A1E8-E327-5D81-3F553AD33144}"/>
              </a:ext>
            </a:extLst>
          </p:cNvPr>
          <p:cNvSpPr txBox="1"/>
          <p:nvPr/>
        </p:nvSpPr>
        <p:spPr>
          <a:xfrm>
            <a:off x="762000" y="853600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EDA — Monthly Charge VS Churn</a:t>
            </a:r>
            <a:endParaRPr dirty="0"/>
          </a:p>
        </p:txBody>
      </p: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EC6B29D0-7528-EA28-E26C-B430A56BA682}"/>
              </a:ext>
            </a:extLst>
          </p:cNvPr>
          <p:cNvSpPr/>
          <p:nvPr/>
        </p:nvSpPr>
        <p:spPr>
          <a:xfrm>
            <a:off x="571500" y="853600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B1D856-D766-B457-6CF1-E6041F936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24EA1C-1394-9330-893B-8BD859773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CE32B7-4B8F-BB1D-B120-9CABE404AD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977010" y="1731278"/>
            <a:ext cx="6237979" cy="422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70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CA512B8A-2DBB-52E1-DF2E-B06BC7FAA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>
            <a:extLst>
              <a:ext uri="{FF2B5EF4-FFF2-40B4-BE49-F238E27FC236}">
                <a16:creationId xmlns:a16="http://schemas.microsoft.com/office/drawing/2014/main" id="{EEEEFE48-B429-9636-2C2E-6B92A6EB648F}"/>
              </a:ext>
            </a:extLst>
          </p:cNvPr>
          <p:cNvSpPr txBox="1"/>
          <p:nvPr/>
        </p:nvSpPr>
        <p:spPr>
          <a:xfrm>
            <a:off x="762000" y="853600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EDA — Payment Method VS Churn</a:t>
            </a:r>
            <a:endParaRPr dirty="0"/>
          </a:p>
        </p:txBody>
      </p: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9EB25A00-581F-BF68-16CC-BABA04060E33}"/>
              </a:ext>
            </a:extLst>
          </p:cNvPr>
          <p:cNvSpPr/>
          <p:nvPr/>
        </p:nvSpPr>
        <p:spPr>
          <a:xfrm>
            <a:off x="571500" y="853600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976BD3-8E6B-1C2A-DFE2-564985702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F55B01-ED81-2F60-AA2A-C8F2F76C6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161057-C2B5-B485-B2B5-9CD03D258D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73562" y="1731278"/>
            <a:ext cx="5244874" cy="422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089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9"/>
          <p:cNvSpPr txBox="1"/>
          <p:nvPr/>
        </p:nvSpPr>
        <p:spPr>
          <a:xfrm>
            <a:off x="762000" y="863329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Insights from EDA</a:t>
            </a:r>
            <a:endParaRPr dirty="0"/>
          </a:p>
        </p:txBody>
      </p:sp>
      <p:sp>
        <p:nvSpPr>
          <p:cNvPr id="337" name="Google Shape;337;p29"/>
          <p:cNvSpPr/>
          <p:nvPr/>
        </p:nvSpPr>
        <p:spPr>
          <a:xfrm>
            <a:off x="571500" y="863329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9"/>
          <p:cNvSpPr txBox="1"/>
          <p:nvPr/>
        </p:nvSpPr>
        <p:spPr>
          <a:xfrm>
            <a:off x="952500" y="2909887"/>
            <a:ext cx="4857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Month-to-month contracts increase churn risk.</a:t>
            </a:r>
            <a:endParaRPr dirty="0"/>
          </a:p>
        </p:txBody>
      </p:sp>
      <p:sp>
        <p:nvSpPr>
          <p:cNvPr id="339" name="Google Shape;339;p29"/>
          <p:cNvSpPr txBox="1"/>
          <p:nvPr/>
        </p:nvSpPr>
        <p:spPr>
          <a:xfrm>
            <a:off x="952500" y="3614737"/>
            <a:ext cx="4857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New customers are more likely to leave.</a:t>
            </a:r>
            <a:endParaRPr dirty="0"/>
          </a:p>
        </p:txBody>
      </p:sp>
      <p:sp>
        <p:nvSpPr>
          <p:cNvPr id="340" name="Google Shape;340;p29"/>
          <p:cNvSpPr txBox="1"/>
          <p:nvPr/>
        </p:nvSpPr>
        <p:spPr>
          <a:xfrm>
            <a:off x="952500" y="4319587"/>
            <a:ext cx="4857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Fiber optic users have higher churn tendency.</a:t>
            </a:r>
            <a:endParaRPr dirty="0"/>
          </a:p>
        </p:txBody>
      </p:sp>
      <p:sp>
        <p:nvSpPr>
          <p:cNvPr id="341" name="Google Shape;341;p29"/>
          <p:cNvSpPr txBox="1"/>
          <p:nvPr/>
        </p:nvSpPr>
        <p:spPr>
          <a:xfrm>
            <a:off x="6115050" y="2909887"/>
            <a:ext cx="551497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Additional services reduce churn probability.</a:t>
            </a:r>
            <a:endParaRPr dirty="0"/>
          </a:p>
        </p:txBody>
      </p:sp>
      <p:sp>
        <p:nvSpPr>
          <p:cNvPr id="342" name="Google Shape;342;p29"/>
          <p:cNvSpPr txBox="1"/>
          <p:nvPr/>
        </p:nvSpPr>
        <p:spPr>
          <a:xfrm>
            <a:off x="6115050" y="3614737"/>
            <a:ext cx="55054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Customers who use Electronic Check have a higher churn rate.</a:t>
            </a:r>
            <a:endParaRPr b="1" dirty="0"/>
          </a:p>
        </p:txBody>
      </p:sp>
      <p:pic>
        <p:nvPicPr>
          <p:cNvPr id="343" name="Google Shape;34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96825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68283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37795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4050" y="294879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4050" y="368283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04BB762-46D7-B480-67D2-59750969C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C73139-1773-3607-ADBD-176F18A00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  <p:sp>
        <p:nvSpPr>
          <p:cNvPr id="4" name="Google Shape;342;p29">
            <a:extLst>
              <a:ext uri="{FF2B5EF4-FFF2-40B4-BE49-F238E27FC236}">
                <a16:creationId xmlns:a16="http://schemas.microsoft.com/office/drawing/2014/main" id="{6491A581-42F7-820C-5CEA-D26219150CCD}"/>
              </a:ext>
            </a:extLst>
          </p:cNvPr>
          <p:cNvSpPr txBox="1"/>
          <p:nvPr/>
        </p:nvSpPr>
        <p:spPr>
          <a:xfrm>
            <a:off x="6115049" y="4270947"/>
            <a:ext cx="55149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 monthly subscription prices contribute to increased churn.</a:t>
            </a:r>
            <a:endParaRPr b="1" dirty="0"/>
          </a:p>
        </p:txBody>
      </p:sp>
      <p:pic>
        <p:nvPicPr>
          <p:cNvPr id="5" name="Google Shape;347;p29" descr="image.png">
            <a:extLst>
              <a:ext uri="{FF2B5EF4-FFF2-40B4-BE49-F238E27FC236}">
                <a16:creationId xmlns:a16="http://schemas.microsoft.com/office/drawing/2014/main" id="{7B34D60F-B9FC-1C5F-808A-77A63D7844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4050" y="432931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5">
          <a:extLst>
            <a:ext uri="{FF2B5EF4-FFF2-40B4-BE49-F238E27FC236}">
              <a16:creationId xmlns:a16="http://schemas.microsoft.com/office/drawing/2014/main" id="{8E7B1E0B-DEFB-1DFA-0AE3-3811076CE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9">
            <a:extLst>
              <a:ext uri="{FF2B5EF4-FFF2-40B4-BE49-F238E27FC236}">
                <a16:creationId xmlns:a16="http://schemas.microsoft.com/office/drawing/2014/main" id="{FEA88A93-B32D-C7CC-296B-153AA4DA2EDB}"/>
              </a:ext>
            </a:extLst>
          </p:cNvPr>
          <p:cNvSpPr txBox="1"/>
          <p:nvPr/>
        </p:nvSpPr>
        <p:spPr>
          <a:xfrm>
            <a:off x="762000" y="863329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Business Recommendations</a:t>
            </a:r>
            <a:endParaRPr dirty="0"/>
          </a:p>
        </p:txBody>
      </p:sp>
      <p:sp>
        <p:nvSpPr>
          <p:cNvPr id="337" name="Google Shape;337;p29">
            <a:extLst>
              <a:ext uri="{FF2B5EF4-FFF2-40B4-BE49-F238E27FC236}">
                <a16:creationId xmlns:a16="http://schemas.microsoft.com/office/drawing/2014/main" id="{2106F7CA-920F-4598-4F9B-D6BF77C86DA1}"/>
              </a:ext>
            </a:extLst>
          </p:cNvPr>
          <p:cNvSpPr/>
          <p:nvPr/>
        </p:nvSpPr>
        <p:spPr>
          <a:xfrm>
            <a:off x="571500" y="863329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9">
            <a:extLst>
              <a:ext uri="{FF2B5EF4-FFF2-40B4-BE49-F238E27FC236}">
                <a16:creationId xmlns:a16="http://schemas.microsoft.com/office/drawing/2014/main" id="{2C6AE785-44F4-9ACE-B358-BB2659BD943F}"/>
              </a:ext>
            </a:extLst>
          </p:cNvPr>
          <p:cNvSpPr txBox="1"/>
          <p:nvPr/>
        </p:nvSpPr>
        <p:spPr>
          <a:xfrm>
            <a:off x="952500" y="2909887"/>
            <a:ext cx="4857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Encourage long-term contracts.</a:t>
            </a:r>
            <a:endParaRPr dirty="0"/>
          </a:p>
        </p:txBody>
      </p:sp>
      <p:sp>
        <p:nvSpPr>
          <p:cNvPr id="339" name="Google Shape;339;p29">
            <a:extLst>
              <a:ext uri="{FF2B5EF4-FFF2-40B4-BE49-F238E27FC236}">
                <a16:creationId xmlns:a16="http://schemas.microsoft.com/office/drawing/2014/main" id="{137117B8-DFA1-B63C-AC46-C44DA254B365}"/>
              </a:ext>
            </a:extLst>
          </p:cNvPr>
          <p:cNvSpPr txBox="1"/>
          <p:nvPr/>
        </p:nvSpPr>
        <p:spPr>
          <a:xfrm>
            <a:off x="952500" y="3614737"/>
            <a:ext cx="4857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Improve onboarding for new customers.</a:t>
            </a:r>
            <a:endParaRPr dirty="0"/>
          </a:p>
        </p:txBody>
      </p:sp>
      <p:sp>
        <p:nvSpPr>
          <p:cNvPr id="340" name="Google Shape;340;p29">
            <a:extLst>
              <a:ext uri="{FF2B5EF4-FFF2-40B4-BE49-F238E27FC236}">
                <a16:creationId xmlns:a16="http://schemas.microsoft.com/office/drawing/2014/main" id="{059D4622-4636-92F9-A451-702E8F548F0E}"/>
              </a:ext>
            </a:extLst>
          </p:cNvPr>
          <p:cNvSpPr txBox="1"/>
          <p:nvPr/>
        </p:nvSpPr>
        <p:spPr>
          <a:xfrm>
            <a:off x="952500" y="4319587"/>
            <a:ext cx="4857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Improve fiber optic customer experience.</a:t>
            </a:r>
            <a:endParaRPr dirty="0"/>
          </a:p>
        </p:txBody>
      </p:sp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252AC98D-6A1C-8DE5-A262-89865DCD48E5}"/>
              </a:ext>
            </a:extLst>
          </p:cNvPr>
          <p:cNvSpPr txBox="1"/>
          <p:nvPr/>
        </p:nvSpPr>
        <p:spPr>
          <a:xfrm>
            <a:off x="6115050" y="2909887"/>
            <a:ext cx="4857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Promote bundled support services.</a:t>
            </a:r>
            <a:endParaRPr dirty="0"/>
          </a:p>
        </p:txBody>
      </p:sp>
      <p:sp>
        <p:nvSpPr>
          <p:cNvPr id="342" name="Google Shape;342;p29">
            <a:extLst>
              <a:ext uri="{FF2B5EF4-FFF2-40B4-BE49-F238E27FC236}">
                <a16:creationId xmlns:a16="http://schemas.microsoft.com/office/drawing/2014/main" id="{A9EAA7DD-A6B5-93B2-97DD-7D32DA7E6B90}"/>
              </a:ext>
            </a:extLst>
          </p:cNvPr>
          <p:cNvSpPr txBox="1"/>
          <p:nvPr/>
        </p:nvSpPr>
        <p:spPr>
          <a:xfrm>
            <a:off x="6115050" y="3614737"/>
            <a:ext cx="4857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Encourage Auto-pay/Credit Card over Electronic Check.</a:t>
            </a:r>
            <a:endParaRPr b="1" dirty="0"/>
          </a:p>
        </p:txBody>
      </p:sp>
      <p:pic>
        <p:nvPicPr>
          <p:cNvPr id="343" name="Google Shape;343;p29" descr="image.png">
            <a:extLst>
              <a:ext uri="{FF2B5EF4-FFF2-40B4-BE49-F238E27FC236}">
                <a16:creationId xmlns:a16="http://schemas.microsoft.com/office/drawing/2014/main" id="{11D9ABC3-FA6B-B08D-B3AA-B4523A9F28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96825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9" descr="image.png">
            <a:extLst>
              <a:ext uri="{FF2B5EF4-FFF2-40B4-BE49-F238E27FC236}">
                <a16:creationId xmlns:a16="http://schemas.microsoft.com/office/drawing/2014/main" id="{03EED5A9-E9B2-0AE1-6663-5BD2D7EA0E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68283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9" descr="image.png">
            <a:extLst>
              <a:ext uri="{FF2B5EF4-FFF2-40B4-BE49-F238E27FC236}">
                <a16:creationId xmlns:a16="http://schemas.microsoft.com/office/drawing/2014/main" id="{9850490A-9D69-0493-CA7E-8E935755C0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37795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9" descr="image.png">
            <a:extLst>
              <a:ext uri="{FF2B5EF4-FFF2-40B4-BE49-F238E27FC236}">
                <a16:creationId xmlns:a16="http://schemas.microsoft.com/office/drawing/2014/main" id="{98117110-9712-7C78-6360-C7E14749CA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4050" y="294879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9" descr="image.png">
            <a:extLst>
              <a:ext uri="{FF2B5EF4-FFF2-40B4-BE49-F238E27FC236}">
                <a16:creationId xmlns:a16="http://schemas.microsoft.com/office/drawing/2014/main" id="{1BA7D7BA-EE00-0360-9C08-F58D1BD94C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4050" y="368283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53FB079-E733-6558-8C6E-AB05E0003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7386BF-F609-322A-A16F-C306BCD64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  <p:sp>
        <p:nvSpPr>
          <p:cNvPr id="4" name="Google Shape;342;p29">
            <a:extLst>
              <a:ext uri="{FF2B5EF4-FFF2-40B4-BE49-F238E27FC236}">
                <a16:creationId xmlns:a16="http://schemas.microsoft.com/office/drawing/2014/main" id="{2ECB3F8A-7B96-15EF-11FF-D51540A8A38A}"/>
              </a:ext>
            </a:extLst>
          </p:cNvPr>
          <p:cNvSpPr txBox="1"/>
          <p:nvPr/>
        </p:nvSpPr>
        <p:spPr>
          <a:xfrm>
            <a:off x="6115049" y="4270947"/>
            <a:ext cx="4857751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Introduce flexible pricing plans, loyalty discounts, or bundled offers for customers with high monthly charges to reduce churn risk.</a:t>
            </a:r>
            <a:endParaRPr b="1" dirty="0"/>
          </a:p>
        </p:txBody>
      </p:sp>
      <p:pic>
        <p:nvPicPr>
          <p:cNvPr id="5" name="Google Shape;347;p29" descr="image.png">
            <a:extLst>
              <a:ext uri="{FF2B5EF4-FFF2-40B4-BE49-F238E27FC236}">
                <a16:creationId xmlns:a16="http://schemas.microsoft.com/office/drawing/2014/main" id="{94922BAE-5980-30E4-E592-B934B1913B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4050" y="432931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9207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86050"/>
            <a:ext cx="523875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686050"/>
            <a:ext cx="5238750" cy="24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762000" y="853601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Preprocessing</a:t>
            </a:r>
            <a:endParaRPr dirty="0"/>
          </a:p>
        </p:txBody>
      </p:sp>
      <p:sp>
        <p:nvSpPr>
          <p:cNvPr id="222" name="Google Shape;222;p21"/>
          <p:cNvSpPr/>
          <p:nvPr/>
        </p:nvSpPr>
        <p:spPr>
          <a:xfrm>
            <a:off x="571500" y="853601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857250" y="3009900"/>
            <a:ext cx="490061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1E3C"/>
                </a:solidFill>
                <a:latin typeface="Poppins"/>
                <a:ea typeface="Poppins"/>
                <a:cs typeface="Poppins"/>
                <a:sym typeface="Poppins"/>
              </a:rPr>
              <a:t>Scaling &amp; Encoding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667500" y="3009900"/>
            <a:ext cx="490061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1E3C"/>
                </a:solidFill>
                <a:latin typeface="Poppins"/>
                <a:ea typeface="Poppins"/>
                <a:cs typeface="Poppins"/>
                <a:sym typeface="Poppins"/>
              </a:rPr>
              <a:t>Engineered Features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238250" y="3495675"/>
            <a:ext cx="42862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 Scaler for numerical features.</a:t>
            </a:r>
            <a:endParaRPr b="1" dirty="0"/>
          </a:p>
        </p:txBody>
      </p:sp>
      <p:sp>
        <p:nvSpPr>
          <p:cNvPr id="226" name="Google Shape;226;p21"/>
          <p:cNvSpPr txBox="1"/>
          <p:nvPr/>
        </p:nvSpPr>
        <p:spPr>
          <a:xfrm>
            <a:off x="1238250" y="3933825"/>
            <a:ext cx="42862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OneHotEncoder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 categorical features.</a:t>
            </a:r>
            <a:endParaRPr b="1" dirty="0"/>
          </a:p>
        </p:txBody>
      </p:sp>
      <p:sp>
        <p:nvSpPr>
          <p:cNvPr id="227" name="Google Shape;227;p21"/>
          <p:cNvSpPr txBox="1"/>
          <p:nvPr/>
        </p:nvSpPr>
        <p:spPr>
          <a:xfrm>
            <a:off x="1238250" y="4371975"/>
            <a:ext cx="42862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Label Encoding for the target variable.</a:t>
            </a:r>
            <a:endParaRPr b="1" dirty="0"/>
          </a:p>
        </p:txBody>
      </p:sp>
      <p:sp>
        <p:nvSpPr>
          <p:cNvPr id="228" name="Google Shape;228;p21"/>
          <p:cNvSpPr txBox="1"/>
          <p:nvPr/>
        </p:nvSpPr>
        <p:spPr>
          <a:xfrm>
            <a:off x="7048500" y="3495675"/>
            <a:ext cx="42862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IsNewCustomer</a:t>
            </a:r>
            <a:endParaRPr dirty="0"/>
          </a:p>
        </p:txBody>
      </p:sp>
      <p:sp>
        <p:nvSpPr>
          <p:cNvPr id="229" name="Google Shape;229;p21"/>
          <p:cNvSpPr txBox="1"/>
          <p:nvPr/>
        </p:nvSpPr>
        <p:spPr>
          <a:xfrm>
            <a:off x="7048500" y="3933825"/>
            <a:ext cx="210036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HighMonthlyCharges</a:t>
            </a:r>
            <a:endParaRPr dirty="0"/>
          </a:p>
        </p:txBody>
      </p:sp>
      <p:sp>
        <p:nvSpPr>
          <p:cNvPr id="230" name="Google Shape;230;p21"/>
          <p:cNvSpPr txBox="1"/>
          <p:nvPr/>
        </p:nvSpPr>
        <p:spPr>
          <a:xfrm>
            <a:off x="7048500" y="4371975"/>
            <a:ext cx="42862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NumServices</a:t>
            </a:r>
            <a:endParaRPr dirty="0"/>
          </a:p>
        </p:txBody>
      </p:sp>
      <p:pic>
        <p:nvPicPr>
          <p:cNvPr id="231" name="Google Shape;23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34956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39338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43719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7228" y="355404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7228" y="399219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7228" y="4440071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28;p21">
            <a:extLst>
              <a:ext uri="{FF2B5EF4-FFF2-40B4-BE49-F238E27FC236}">
                <a16:creationId xmlns:a16="http://schemas.microsoft.com/office/drawing/2014/main" id="{62E795D2-530F-27FA-7126-76215551514C}"/>
              </a:ext>
            </a:extLst>
          </p:cNvPr>
          <p:cNvSpPr txBox="1"/>
          <p:nvPr/>
        </p:nvSpPr>
        <p:spPr>
          <a:xfrm>
            <a:off x="9343419" y="3495675"/>
            <a:ext cx="2224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HasFiberOptic</a:t>
            </a:r>
            <a:endParaRPr dirty="0"/>
          </a:p>
        </p:txBody>
      </p:sp>
      <p:sp>
        <p:nvSpPr>
          <p:cNvPr id="3" name="Google Shape;229;p21">
            <a:extLst>
              <a:ext uri="{FF2B5EF4-FFF2-40B4-BE49-F238E27FC236}">
                <a16:creationId xmlns:a16="http://schemas.microsoft.com/office/drawing/2014/main" id="{F03CCE85-6500-3136-5B17-276B2A97F447}"/>
              </a:ext>
            </a:extLst>
          </p:cNvPr>
          <p:cNvSpPr txBox="1"/>
          <p:nvPr/>
        </p:nvSpPr>
        <p:spPr>
          <a:xfrm>
            <a:off x="9343419" y="3933825"/>
            <a:ext cx="2224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LongTermContract</a:t>
            </a:r>
            <a:endParaRPr dirty="0"/>
          </a:p>
        </p:txBody>
      </p:sp>
      <p:sp>
        <p:nvSpPr>
          <p:cNvPr id="4" name="Google Shape;230;p21">
            <a:extLst>
              <a:ext uri="{FF2B5EF4-FFF2-40B4-BE49-F238E27FC236}">
                <a16:creationId xmlns:a16="http://schemas.microsoft.com/office/drawing/2014/main" id="{0AF1CAA7-8CB9-D140-00AB-12818C7F8EC1}"/>
              </a:ext>
            </a:extLst>
          </p:cNvPr>
          <p:cNvSpPr txBox="1"/>
          <p:nvPr/>
        </p:nvSpPr>
        <p:spPr>
          <a:xfrm>
            <a:off x="9343419" y="4371975"/>
            <a:ext cx="2224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AutoPayment</a:t>
            </a:r>
            <a:endParaRPr dirty="0"/>
          </a:p>
        </p:txBody>
      </p:sp>
      <p:pic>
        <p:nvPicPr>
          <p:cNvPr id="5" name="Google Shape;234;p21" descr="image.png">
            <a:extLst>
              <a:ext uri="{FF2B5EF4-FFF2-40B4-BE49-F238E27FC236}">
                <a16:creationId xmlns:a16="http://schemas.microsoft.com/office/drawing/2014/main" id="{87FFC04D-EB70-DCCD-AC82-243090654F2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72147" y="355404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35;p21" descr="image.png">
            <a:extLst>
              <a:ext uri="{FF2B5EF4-FFF2-40B4-BE49-F238E27FC236}">
                <a16:creationId xmlns:a16="http://schemas.microsoft.com/office/drawing/2014/main" id="{2885DD42-3DA9-9FED-9E2C-B6FEA5B2E7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72147" y="399219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6;p21" descr="image.png">
            <a:extLst>
              <a:ext uri="{FF2B5EF4-FFF2-40B4-BE49-F238E27FC236}">
                <a16:creationId xmlns:a16="http://schemas.microsoft.com/office/drawing/2014/main" id="{A78A923A-E0EA-BC5C-AE8D-F6E2AC569D7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72147" y="444007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967375-AA06-8F9F-B09C-FCAF8B0D9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232D4B-3227-CBD3-5D3B-F6E7AC0D5F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4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7403980" y="2224087"/>
            <a:ext cx="319429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762000" y="873059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Preprocessing — Class Imbalance Problem</a:t>
            </a:r>
            <a:endParaRPr dirty="0"/>
          </a:p>
        </p:txBody>
      </p:sp>
      <p:sp>
        <p:nvSpPr>
          <p:cNvPr id="274" name="Google Shape;274;p24"/>
          <p:cNvSpPr/>
          <p:nvPr/>
        </p:nvSpPr>
        <p:spPr>
          <a:xfrm>
            <a:off x="571500" y="873059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952500" y="2946744"/>
            <a:ext cx="52387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dataset is inherently imbalanced, with churned customers forming the minority class.</a:t>
            </a:r>
            <a:endParaRPr b="1" dirty="0"/>
          </a:p>
        </p:txBody>
      </p:sp>
      <p:sp>
        <p:nvSpPr>
          <p:cNvPr id="276" name="Google Shape;276;p24"/>
          <p:cNvSpPr txBox="1"/>
          <p:nvPr/>
        </p:nvSpPr>
        <p:spPr>
          <a:xfrm>
            <a:off x="952500" y="3643312"/>
            <a:ext cx="48577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Accuracy Trap: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 accuracy can be misleading if the model fails on the minority class.</a:t>
            </a:r>
            <a:endParaRPr dirty="0"/>
          </a:p>
        </p:txBody>
      </p:sp>
      <p:sp>
        <p:nvSpPr>
          <p:cNvPr id="277" name="Google Shape;277;p24"/>
          <p:cNvSpPr txBox="1"/>
          <p:nvPr/>
        </p:nvSpPr>
        <p:spPr>
          <a:xfrm>
            <a:off x="952500" y="4348162"/>
            <a:ext cx="48577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Priority: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Detecting true churners (Recall) is more valuable than overall accuracy.</a:t>
            </a:r>
            <a:endParaRPr/>
          </a:p>
        </p:txBody>
      </p:sp>
      <p:pic>
        <p:nvPicPr>
          <p:cNvPr id="279" name="Google Shape;27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868" y="369195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868" y="440653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0F08815-057D-56AF-AC1F-C31BEE3399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0C9B8A-95AC-FAE0-5F0A-E48E3CF910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 txBox="1"/>
          <p:nvPr/>
        </p:nvSpPr>
        <p:spPr>
          <a:xfrm>
            <a:off x="762000" y="873061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Preprocessing — Train-Test Split</a:t>
            </a:r>
            <a:endParaRPr dirty="0"/>
          </a:p>
        </p:txBody>
      </p:sp>
      <p:sp>
        <p:nvSpPr>
          <p:cNvPr id="242" name="Google Shape;242;p22"/>
          <p:cNvSpPr/>
          <p:nvPr/>
        </p:nvSpPr>
        <p:spPr>
          <a:xfrm>
            <a:off x="571500" y="873061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571500" y="4751657"/>
            <a:ext cx="11049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Random State = 42 used to ensure full reproducibility of results across experiments.</a:t>
            </a:r>
            <a:endParaRPr dirty="0"/>
          </a:p>
        </p:txBody>
      </p:sp>
      <p:sp>
        <p:nvSpPr>
          <p:cNvPr id="244" name="Google Shape;244;p22"/>
          <p:cNvSpPr txBox="1"/>
          <p:nvPr/>
        </p:nvSpPr>
        <p:spPr>
          <a:xfrm>
            <a:off x="2756373" y="2733674"/>
            <a:ext cx="2335854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00D4FF"/>
                </a:solidFill>
                <a:latin typeface="Lato"/>
                <a:ea typeface="Lato"/>
                <a:cs typeface="Lato"/>
                <a:sym typeface="Lato"/>
              </a:rPr>
              <a:t>80%</a:t>
            </a:r>
            <a:endParaRPr dirty="0"/>
          </a:p>
        </p:txBody>
      </p:sp>
      <p:sp>
        <p:nvSpPr>
          <p:cNvPr id="245" name="Google Shape;245;p22"/>
          <p:cNvSpPr txBox="1"/>
          <p:nvPr/>
        </p:nvSpPr>
        <p:spPr>
          <a:xfrm>
            <a:off x="2800350" y="4152899"/>
            <a:ext cx="22479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1E3C"/>
                </a:solidFill>
                <a:latin typeface="Lato"/>
                <a:ea typeface="Lato"/>
                <a:cs typeface="Lato"/>
                <a:sym typeface="Lato"/>
              </a:rPr>
              <a:t>Training Set</a:t>
            </a:r>
            <a:endParaRPr dirty="0"/>
          </a:p>
        </p:txBody>
      </p:sp>
      <p:sp>
        <p:nvSpPr>
          <p:cNvPr id="246" name="Google Shape;246;p22"/>
          <p:cNvSpPr txBox="1"/>
          <p:nvPr/>
        </p:nvSpPr>
        <p:spPr>
          <a:xfrm>
            <a:off x="7043839" y="2658367"/>
            <a:ext cx="2447722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00D4FF"/>
                </a:solidFill>
                <a:latin typeface="Lato"/>
                <a:ea typeface="Lato"/>
                <a:cs typeface="Lato"/>
                <a:sym typeface="Lato"/>
              </a:rPr>
              <a:t>20%</a:t>
            </a:r>
            <a:endParaRPr dirty="0"/>
          </a:p>
        </p:txBody>
      </p:sp>
      <p:sp>
        <p:nvSpPr>
          <p:cNvPr id="247" name="Google Shape;247;p22"/>
          <p:cNvSpPr txBox="1"/>
          <p:nvPr/>
        </p:nvSpPr>
        <p:spPr>
          <a:xfrm>
            <a:off x="7143750" y="4152899"/>
            <a:ext cx="22479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1E3C"/>
                </a:solidFill>
                <a:latin typeface="Lato"/>
                <a:ea typeface="Lato"/>
                <a:cs typeface="Lato"/>
                <a:sym typeface="Lato"/>
              </a:rPr>
              <a:t>Test Set</a:t>
            </a:r>
            <a:endParaRPr dirty="0"/>
          </a:p>
        </p:txBody>
      </p:sp>
      <p:pic>
        <p:nvPicPr>
          <p:cNvPr id="248" name="Google Shape;24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0" y="319563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43;p22">
            <a:extLst>
              <a:ext uri="{FF2B5EF4-FFF2-40B4-BE49-F238E27FC236}">
                <a16:creationId xmlns:a16="http://schemas.microsoft.com/office/drawing/2014/main" id="{073A4C20-8F58-F8D2-EF8F-B82EBD9B883A}"/>
              </a:ext>
            </a:extLst>
          </p:cNvPr>
          <p:cNvSpPr txBox="1"/>
          <p:nvPr/>
        </p:nvSpPr>
        <p:spPr>
          <a:xfrm>
            <a:off x="1507787" y="5051694"/>
            <a:ext cx="996112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Stratify = y used to preserve the original class distribution in both training and testing sets.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CFD3DB-8EB6-2646-6EE0-255ADB0FF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A99603-7556-CBCA-29A7-E1154B07C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/>
        </p:nvSpPr>
        <p:spPr>
          <a:xfrm>
            <a:off x="762000" y="873061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Machine Learning Models</a:t>
            </a:r>
            <a:endParaRPr dirty="0"/>
          </a:p>
        </p:txBody>
      </p:sp>
      <p:sp>
        <p:nvSpPr>
          <p:cNvPr id="254" name="Google Shape;254;p23"/>
          <p:cNvSpPr/>
          <p:nvPr/>
        </p:nvSpPr>
        <p:spPr>
          <a:xfrm>
            <a:off x="571500" y="873061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5" name="Google Shape;255;p23"/>
          <p:cNvGraphicFramePr/>
          <p:nvPr/>
        </p:nvGraphicFramePr>
        <p:xfrm>
          <a:off x="571500" y="2586037"/>
          <a:ext cx="11049000" cy="2800375"/>
        </p:xfrm>
        <a:graphic>
          <a:graphicData uri="http://schemas.openxmlformats.org/drawingml/2006/table">
            <a:tbl>
              <a:tblPr firstRow="1" bandRow="1">
                <a:noFill/>
                <a:tableStyleId>{9E9F58A6-F1B5-489F-9174-BC32A913158F}</a:tableStyleId>
              </a:tblPr>
              <a:tblGrid>
                <a:gridCol w="264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E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Architecture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E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Specific Purpose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1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Logistic Regression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Linear Classifier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Baseline performance &amp; interpretability.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Balanced LogReg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Linear + Class Weights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Addressing data imbalance directly.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 Forest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Ensemble Bagging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Capturing non-linear feature interactions.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XGBoost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Gradient Boosting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Optimizing performance via tree ensembles.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6" name="Google Shape;256;p23"/>
          <p:cNvSpPr/>
          <p:nvPr/>
        </p:nvSpPr>
        <p:spPr>
          <a:xfrm>
            <a:off x="571500" y="3686175"/>
            <a:ext cx="2649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3221087" y="3686175"/>
            <a:ext cx="30072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6228308" y="3686175"/>
            <a:ext cx="53921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571500" y="4248150"/>
            <a:ext cx="2649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3221087" y="4248150"/>
            <a:ext cx="30072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6228308" y="4248150"/>
            <a:ext cx="53921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571500" y="4810125"/>
            <a:ext cx="2649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3221087" y="4810125"/>
            <a:ext cx="30072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6228308" y="4810125"/>
            <a:ext cx="53921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571500" y="5372100"/>
            <a:ext cx="2649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3221087" y="5372100"/>
            <a:ext cx="30072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6228308" y="5372100"/>
            <a:ext cx="53921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90CA07-30FE-55E2-164A-B40638CD5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F0B7FA-0CD5-2FD3-E29D-B6095DBEB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62225"/>
            <a:ext cx="2547937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05187" y="2562225"/>
            <a:ext cx="2547937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562225"/>
            <a:ext cx="2547937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72562" y="2562225"/>
            <a:ext cx="2547937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 txBox="1"/>
          <p:nvPr/>
        </p:nvSpPr>
        <p:spPr>
          <a:xfrm>
            <a:off x="762000" y="873063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Evaluation Metrics</a:t>
            </a:r>
            <a:endParaRPr dirty="0"/>
          </a:p>
        </p:txBody>
      </p:sp>
      <p:sp>
        <p:nvSpPr>
          <p:cNvPr id="290" name="Google Shape;290;p25"/>
          <p:cNvSpPr/>
          <p:nvPr/>
        </p:nvSpPr>
        <p:spPr>
          <a:xfrm>
            <a:off x="571500" y="873063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857250" y="2886075"/>
            <a:ext cx="207525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1E3C"/>
                </a:solidFill>
                <a:latin typeface="Poppins"/>
                <a:ea typeface="Poppins"/>
                <a:cs typeface="Poppins"/>
                <a:sym typeface="Poppins"/>
              </a:rPr>
              <a:t>Precision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857250" y="3409950"/>
            <a:ext cx="1976437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Minimizing false positives (unnecessary retention offers).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3690937" y="2886075"/>
            <a:ext cx="207525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D4FF"/>
                </a:solidFill>
                <a:latin typeface="Poppins"/>
                <a:ea typeface="Poppins"/>
                <a:cs typeface="Poppins"/>
                <a:sym typeface="Poppins"/>
              </a:rPr>
              <a:t>Recall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3690937" y="3409950"/>
            <a:ext cx="1976437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Minimizing false negatives (missing actual churners).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Highest Business Impact.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6524625" y="2886075"/>
            <a:ext cx="207525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1E3C"/>
                </a:solidFill>
                <a:latin typeface="Poppins"/>
                <a:ea typeface="Poppins"/>
                <a:cs typeface="Poppins"/>
                <a:sym typeface="Poppins"/>
              </a:rPr>
              <a:t>F1-Score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6524625" y="3409950"/>
            <a:ext cx="1976437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Harmonic mean balancing precision and recall.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9358312" y="2886075"/>
            <a:ext cx="207525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1E3C"/>
                </a:solidFill>
                <a:latin typeface="Poppins"/>
                <a:ea typeface="Poppins"/>
                <a:cs typeface="Poppins"/>
                <a:sym typeface="Poppins"/>
              </a:rPr>
              <a:t>ROC-AUC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9358312" y="3409950"/>
            <a:ext cx="1976437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Model's ability to distinguish between classes.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E3819E-1006-6C16-50B1-C0EE38B71B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81D359-499F-488B-679A-D8CD028E36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6"/>
          <p:cNvSpPr txBox="1"/>
          <p:nvPr/>
        </p:nvSpPr>
        <p:spPr>
          <a:xfrm>
            <a:off x="762000" y="873058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Comparison — Metrics </a:t>
            </a:r>
            <a:endParaRPr dirty="0"/>
          </a:p>
        </p:txBody>
      </p:sp>
      <p:sp>
        <p:nvSpPr>
          <p:cNvPr id="305" name="Google Shape;305;p26"/>
          <p:cNvSpPr/>
          <p:nvPr/>
        </p:nvSpPr>
        <p:spPr>
          <a:xfrm>
            <a:off x="571500" y="873058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B2BF07-CFCB-1A89-1D04-EC17FE52D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131" y="1634241"/>
            <a:ext cx="9189738" cy="50292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8DDCD5-9C8C-F0CD-1953-480DE758C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F8CE8B-DE1E-BD86-C5FB-F2A7385FB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2">
          <a:extLst>
            <a:ext uri="{FF2B5EF4-FFF2-40B4-BE49-F238E27FC236}">
              <a16:creationId xmlns:a16="http://schemas.microsoft.com/office/drawing/2014/main" id="{4E80AFCC-6D02-0371-65D2-C5EB8CB34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6">
            <a:extLst>
              <a:ext uri="{FF2B5EF4-FFF2-40B4-BE49-F238E27FC236}">
                <a16:creationId xmlns:a16="http://schemas.microsoft.com/office/drawing/2014/main" id="{5613F1A6-51F2-716A-8306-5D16699BBD12}"/>
              </a:ext>
            </a:extLst>
          </p:cNvPr>
          <p:cNvSpPr txBox="1"/>
          <p:nvPr/>
        </p:nvSpPr>
        <p:spPr>
          <a:xfrm>
            <a:off x="762000" y="873058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Comparison — ROC Curve </a:t>
            </a:r>
            <a:endParaRPr dirty="0"/>
          </a:p>
        </p:txBody>
      </p:sp>
      <p:sp>
        <p:nvSpPr>
          <p:cNvPr id="305" name="Google Shape;305;p26">
            <a:extLst>
              <a:ext uri="{FF2B5EF4-FFF2-40B4-BE49-F238E27FC236}">
                <a16:creationId xmlns:a16="http://schemas.microsoft.com/office/drawing/2014/main" id="{79DA3A1B-4EF5-E56C-9708-2E7FE5690064}"/>
              </a:ext>
            </a:extLst>
          </p:cNvPr>
          <p:cNvSpPr/>
          <p:nvPr/>
        </p:nvSpPr>
        <p:spPr>
          <a:xfrm>
            <a:off x="571500" y="873058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798570-9B7E-D222-68A2-32BB868163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87046" y="1634241"/>
            <a:ext cx="6817908" cy="50292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EAECB0-3D5D-8F37-A91A-557BD1F97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2447E8-A38F-2127-77D7-FA6412529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554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38412"/>
            <a:ext cx="110490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7"/>
          <p:cNvSpPr txBox="1"/>
          <p:nvPr/>
        </p:nvSpPr>
        <p:spPr>
          <a:xfrm>
            <a:off x="762000" y="863333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Final Model Selection</a:t>
            </a:r>
            <a:endParaRPr dirty="0"/>
          </a:p>
        </p:txBody>
      </p:sp>
      <p:sp>
        <p:nvSpPr>
          <p:cNvPr id="314" name="Google Shape;314;p27"/>
          <p:cNvSpPr/>
          <p:nvPr/>
        </p:nvSpPr>
        <p:spPr>
          <a:xfrm>
            <a:off x="571500" y="863333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 txBox="1"/>
          <p:nvPr/>
        </p:nvSpPr>
        <p:spPr>
          <a:xfrm>
            <a:off x="971550" y="3102322"/>
            <a:ext cx="5080635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1E3C"/>
                </a:solidFill>
                <a:latin typeface="Poppins"/>
                <a:ea typeface="Poppins"/>
                <a:cs typeface="Poppins"/>
                <a:sym typeface="Poppins"/>
              </a:rPr>
              <a:t>Random Forest</a:t>
            </a:r>
            <a:endParaRPr dirty="0"/>
          </a:p>
        </p:txBody>
      </p:sp>
      <p:sp>
        <p:nvSpPr>
          <p:cNvPr id="316" name="Google Shape;316;p27"/>
          <p:cNvSpPr txBox="1"/>
          <p:nvPr/>
        </p:nvSpPr>
        <p:spPr>
          <a:xfrm>
            <a:off x="971550" y="4039492"/>
            <a:ext cx="48387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D4FF"/>
                </a:solidFill>
                <a:latin typeface="Lato"/>
                <a:ea typeface="Lato"/>
                <a:cs typeface="Lato"/>
                <a:sym typeface="Lato"/>
              </a:rPr>
              <a:t>Primary Classifier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6762750" y="3090862"/>
            <a:ext cx="4457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Consistent performance across all subsets.</a:t>
            </a:r>
            <a:endParaRPr dirty="0"/>
          </a:p>
        </p:txBody>
      </p:sp>
      <p:sp>
        <p:nvSpPr>
          <p:cNvPr id="318" name="Google Shape;318;p27"/>
          <p:cNvSpPr txBox="1"/>
          <p:nvPr/>
        </p:nvSpPr>
        <p:spPr>
          <a:xfrm>
            <a:off x="6762750" y="3529012"/>
            <a:ext cx="4457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Built-in protection against overfitting.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6762750" y="3967162"/>
            <a:ext cx="4457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Provides clear Feature Importance.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6762750" y="4405312"/>
            <a:ext cx="4457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 Recall for churn detection.</a:t>
            </a:r>
            <a:endParaRPr/>
          </a:p>
        </p:txBody>
      </p:sp>
      <p:pic>
        <p:nvPicPr>
          <p:cNvPr id="321" name="Google Shape;32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090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529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9671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4053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6FA5DE6-989E-0E07-C0AE-274EC34B12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F1DF66-2B13-DF1C-1D22-7B03E16C90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8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1300569" y="1495425"/>
            <a:ext cx="9590861" cy="4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8"/>
          <p:cNvSpPr txBox="1"/>
          <p:nvPr/>
        </p:nvSpPr>
        <p:spPr>
          <a:xfrm>
            <a:off x="762000" y="873059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Feature Importance Analysis</a:t>
            </a:r>
            <a:endParaRPr/>
          </a:p>
        </p:txBody>
      </p:sp>
      <p:sp>
        <p:nvSpPr>
          <p:cNvPr id="331" name="Google Shape;331;p28"/>
          <p:cNvSpPr/>
          <p:nvPr/>
        </p:nvSpPr>
        <p:spPr>
          <a:xfrm>
            <a:off x="571500" y="873059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D5B160-3708-8E00-C1E6-1020F19C1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AE84E1-BA4E-B0A1-29F3-B2E717851B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0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6096000" y="1714500"/>
            <a:ext cx="6096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0"/>
          <p:cNvSpPr txBox="1"/>
          <p:nvPr/>
        </p:nvSpPr>
        <p:spPr>
          <a:xfrm>
            <a:off x="762000" y="878026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Deployment</a:t>
            </a:r>
            <a:endParaRPr dirty="0"/>
          </a:p>
        </p:txBody>
      </p:sp>
      <p:sp>
        <p:nvSpPr>
          <p:cNvPr id="354" name="Google Shape;354;p30"/>
          <p:cNvSpPr/>
          <p:nvPr/>
        </p:nvSpPr>
        <p:spPr>
          <a:xfrm>
            <a:off x="571500" y="878026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0"/>
          <p:cNvSpPr txBox="1"/>
          <p:nvPr/>
        </p:nvSpPr>
        <p:spPr>
          <a:xfrm>
            <a:off x="952500" y="2518549"/>
            <a:ext cx="51435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Interactive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Streamlit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application providing a user-friendly interface for real-time customer churn prediction.</a:t>
            </a:r>
            <a:endParaRPr dirty="0"/>
          </a:p>
        </p:txBody>
      </p:sp>
      <p:sp>
        <p:nvSpPr>
          <p:cNvPr id="356" name="Google Shape;356;p30"/>
          <p:cNvSpPr txBox="1"/>
          <p:nvPr/>
        </p:nvSpPr>
        <p:spPr>
          <a:xfrm>
            <a:off x="952500" y="3199892"/>
            <a:ext cx="457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Integrated tuned Random Forest model with automated data preprocessing pipeline.</a:t>
            </a:r>
            <a:endParaRPr dirty="0"/>
          </a:p>
        </p:txBody>
      </p:sp>
      <p:sp>
        <p:nvSpPr>
          <p:cNvPr id="357" name="Google Shape;357;p30"/>
          <p:cNvSpPr txBox="1"/>
          <p:nvPr/>
        </p:nvSpPr>
        <p:spPr>
          <a:xfrm>
            <a:off x="952500" y="3901018"/>
            <a:ext cx="457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Supports business teams in taking proactive customer retention and decision-making actions.</a:t>
            </a:r>
            <a:endParaRPr dirty="0"/>
          </a:p>
        </p:txBody>
      </p:sp>
      <p:pic>
        <p:nvPicPr>
          <p:cNvPr id="359" name="Google Shape;35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9049" y="255746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9047" y="324853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9049" y="394965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CF0E9F5-DC12-B036-F82E-1EA730A2B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7FA408-EB8E-2C2A-3CEF-95565BB27C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5">
          <a:extLst>
            <a:ext uri="{FF2B5EF4-FFF2-40B4-BE49-F238E27FC236}">
              <a16:creationId xmlns:a16="http://schemas.microsoft.com/office/drawing/2014/main" id="{F4EF1A24-C66D-D464-683E-5ABBC852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9">
            <a:extLst>
              <a:ext uri="{FF2B5EF4-FFF2-40B4-BE49-F238E27FC236}">
                <a16:creationId xmlns:a16="http://schemas.microsoft.com/office/drawing/2014/main" id="{94F08FAB-06A3-AEDE-5108-32C11EC0B146}"/>
              </a:ext>
            </a:extLst>
          </p:cNvPr>
          <p:cNvSpPr txBox="1"/>
          <p:nvPr/>
        </p:nvSpPr>
        <p:spPr>
          <a:xfrm>
            <a:off x="762000" y="863329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1E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</a:t>
            </a:r>
            <a:endParaRPr dirty="0"/>
          </a:p>
        </p:txBody>
      </p:sp>
      <p:sp>
        <p:nvSpPr>
          <p:cNvPr id="337" name="Google Shape;337;p29">
            <a:extLst>
              <a:ext uri="{FF2B5EF4-FFF2-40B4-BE49-F238E27FC236}">
                <a16:creationId xmlns:a16="http://schemas.microsoft.com/office/drawing/2014/main" id="{5793C10C-F613-B5D6-B84A-38B87C29F148}"/>
              </a:ext>
            </a:extLst>
          </p:cNvPr>
          <p:cNvSpPr/>
          <p:nvPr/>
        </p:nvSpPr>
        <p:spPr>
          <a:xfrm>
            <a:off x="571500" y="863329"/>
            <a:ext cx="57150" cy="5429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9">
            <a:extLst>
              <a:ext uri="{FF2B5EF4-FFF2-40B4-BE49-F238E27FC236}">
                <a16:creationId xmlns:a16="http://schemas.microsoft.com/office/drawing/2014/main" id="{EBFDF08C-7D74-E598-CFC7-3DCDD00DA30E}"/>
              </a:ext>
            </a:extLst>
          </p:cNvPr>
          <p:cNvSpPr txBox="1"/>
          <p:nvPr/>
        </p:nvSpPr>
        <p:spPr>
          <a:xfrm>
            <a:off x="952499" y="2909887"/>
            <a:ext cx="9368547" cy="62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Generated actionable business insights.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9" name="Google Shape;339;p29">
            <a:extLst>
              <a:ext uri="{FF2B5EF4-FFF2-40B4-BE49-F238E27FC236}">
                <a16:creationId xmlns:a16="http://schemas.microsoft.com/office/drawing/2014/main" id="{4D0359F2-9FC3-75A2-972D-1F814202D0B3}"/>
              </a:ext>
            </a:extLst>
          </p:cNvPr>
          <p:cNvSpPr txBox="1"/>
          <p:nvPr/>
        </p:nvSpPr>
        <p:spPr>
          <a:xfrm>
            <a:off x="952499" y="3366537"/>
            <a:ext cx="987438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Identified major churn factors.</a:t>
            </a:r>
            <a:endParaRPr dirty="0"/>
          </a:p>
        </p:txBody>
      </p:sp>
      <p:sp>
        <p:nvSpPr>
          <p:cNvPr id="340" name="Google Shape;340;p29">
            <a:extLst>
              <a:ext uri="{FF2B5EF4-FFF2-40B4-BE49-F238E27FC236}">
                <a16:creationId xmlns:a16="http://schemas.microsoft.com/office/drawing/2014/main" id="{80AADB7A-7305-BEE7-9CEB-83E7414DFB1B}"/>
              </a:ext>
            </a:extLst>
          </p:cNvPr>
          <p:cNvSpPr txBox="1"/>
          <p:nvPr/>
        </p:nvSpPr>
        <p:spPr>
          <a:xfrm>
            <a:off x="952499" y="3876337"/>
            <a:ext cx="1000084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Successfully predicted customer churn.</a:t>
            </a:r>
            <a:endParaRPr dirty="0"/>
          </a:p>
        </p:txBody>
      </p:sp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6747DDE0-5176-7304-9F5E-C9E100AFD427}"/>
              </a:ext>
            </a:extLst>
          </p:cNvPr>
          <p:cNvSpPr txBox="1"/>
          <p:nvPr/>
        </p:nvSpPr>
        <p:spPr>
          <a:xfrm>
            <a:off x="952500" y="4347225"/>
            <a:ext cx="1054559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Built end-to-end ML pipeline.</a:t>
            </a:r>
            <a:endParaRPr dirty="0"/>
          </a:p>
        </p:txBody>
      </p:sp>
      <p:pic>
        <p:nvPicPr>
          <p:cNvPr id="343" name="Google Shape;343;p29" descr="image.png">
            <a:extLst>
              <a:ext uri="{FF2B5EF4-FFF2-40B4-BE49-F238E27FC236}">
                <a16:creationId xmlns:a16="http://schemas.microsoft.com/office/drawing/2014/main" id="{6469EEB6-C98F-6245-80DE-B529C12A04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96825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9" descr="image.png">
            <a:extLst>
              <a:ext uri="{FF2B5EF4-FFF2-40B4-BE49-F238E27FC236}">
                <a16:creationId xmlns:a16="http://schemas.microsoft.com/office/drawing/2014/main" id="{80F3022D-B38E-9B43-E776-4A8EC1CD6F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41517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9" descr="image.png">
            <a:extLst>
              <a:ext uri="{FF2B5EF4-FFF2-40B4-BE49-F238E27FC236}">
                <a16:creationId xmlns:a16="http://schemas.microsoft.com/office/drawing/2014/main" id="{8D0D0104-EC63-A595-6A09-D2DB17E69D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91524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9" descr="image.png">
            <a:extLst>
              <a:ext uri="{FF2B5EF4-FFF2-40B4-BE49-F238E27FC236}">
                <a16:creationId xmlns:a16="http://schemas.microsoft.com/office/drawing/2014/main" id="{70FBF8EE-2FF2-59F8-DE0F-0876AA6232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40559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D7095AD-AA00-0A25-F85F-BB1D067F8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66EB19-2B29-E89F-BCB0-EC1C9C1CDC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124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3"/>
          <p:cNvSpPr txBox="1"/>
          <p:nvPr/>
        </p:nvSpPr>
        <p:spPr>
          <a:xfrm>
            <a:off x="3920728" y="1943100"/>
            <a:ext cx="435054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395" name="Google Shape;395;p33"/>
          <p:cNvSpPr txBox="1"/>
          <p:nvPr/>
        </p:nvSpPr>
        <p:spPr>
          <a:xfrm>
            <a:off x="4610100" y="3276600"/>
            <a:ext cx="2971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D4FF"/>
                </a:solidFill>
                <a:latin typeface="Lato"/>
                <a:ea typeface="Lato"/>
                <a:cs typeface="Lato"/>
                <a:sym typeface="Lato"/>
              </a:rPr>
              <a:t>Questions &amp; Discussion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FEFA33F-0EB5-4276-21B5-7982863B2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2667" y="-4148"/>
            <a:ext cx="1509942" cy="665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1B0960-FD08-8399-BB61-A1FED33B7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2224"/>
            <a:ext cx="1104996" cy="8839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696</Words>
  <Application>Microsoft Office PowerPoint</Application>
  <PresentationFormat>Widescreen</PresentationFormat>
  <Paragraphs>132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Poppins</vt:lpstr>
      <vt:lpstr>Poppins SemiBold</vt:lpstr>
      <vt:lpstr>Lato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Mohamed El-shahat</cp:lastModifiedBy>
  <cp:revision>16</cp:revision>
  <dcterms:modified xsi:type="dcterms:W3CDTF">2026-05-12T18:40:01Z</dcterms:modified>
</cp:coreProperties>
</file>